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embeddedFontLst>
    <p:embeddedFont>
      <p:font typeface="Roboto"/>
      <p:regular r:id="rId201314"/>
    </p:embeddedFont>
    <p:embeddedFont>
      <p:font typeface="Roboto Bold"/>
      <p:regular r:id="rId201315"/>
    </p:embeddedFont>
    <p:embeddedFont>
      <p:font typeface="Roboto Slab"/>
      <p:regular r:id="rId201316"/>
    </p:embeddedFont>
    <p:embeddedFont>
      <p:font typeface="Roboto Slab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1.png"/><Relationship Id="rId4" Type="http://schemas.openxmlformats.org/officeDocument/2006/relationships/image" Target="../media/image-2-2.svg"/><Relationship Id="rId5" Type="http://schemas.openxmlformats.org/officeDocument/2006/relationships/image" Target="../media/image-2-1.png"/><Relationship Id="rId6" Type="http://schemas.openxmlformats.org/officeDocument/2006/relationships/image" Target="../media/image-2-2.svg"/><Relationship Id="rId7" Type="http://schemas.openxmlformats.org/officeDocument/2006/relationships/image" Target="../media/image-2-1.png"/><Relationship Id="rId8" Type="http://schemas.openxmlformats.org/officeDocument/2006/relationships/image" Target="../media/image-2-2.sv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5.png"/><Relationship Id="rId8" Type="http://schemas.openxmlformats.org/officeDocument/2006/relationships/image" Target="../media/image-5-6.svg"/><Relationship Id="rId9" Type="http://schemas.openxmlformats.org/officeDocument/2006/relationships/image" Target="../media/image-5-5.png"/><Relationship Id="rId10" Type="http://schemas.openxmlformats.org/officeDocument/2006/relationships/image" Target="../media/image-5-6.svg"/><Relationship Id="rId11" Type="http://schemas.openxmlformats.org/officeDocument/2006/relationships/image" Target="../media/image-5-5.png"/><Relationship Id="rId12" Type="http://schemas.openxmlformats.org/officeDocument/2006/relationships/image" Target="../media/image-5-6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98463"/>
            <a:ext cx="10868745" cy="715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450"/>
              </a:spcAft>
              <a:buNone/>
            </a:pP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61475" y="2161778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REPEAT MINER</a:t>
            </a:r>
            <a:endParaRPr lang="en-US" sz="3250" dirty="0"/>
          </a:p>
        </p:txBody>
      </p:sp>
      <p:sp>
        <p:nvSpPr>
          <p:cNvPr id="4" name="Text 2"/>
          <p:cNvSpPr/>
          <p:nvPr/>
        </p:nvSpPr>
        <p:spPr>
          <a:xfrm>
            <a:off x="661475" y="2744589"/>
            <a:ext cx="10868745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~Repeated Substring Detection in Large Documents Using Suffix Structures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356682" y="3302695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Efficient Detection of Repeated Words and Phrases in Large Text Documents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61475" y="3794621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D6E5EF">
              <a:alpha val="5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1475" y="4040981"/>
            <a:ext cx="10868745" cy="1316732"/>
          </a:xfrm>
          <a:prstGeom prst="roundRect">
            <a:avLst>
              <a:gd name="adj" fmla="val 1884"/>
            </a:avLst>
          </a:prstGeom>
          <a:solidFill>
            <a:srgbClr val="3F4652"/>
          </a:solidFill>
          <a:ln/>
        </p:spPr>
      </p:sp>
      <p:sp>
        <p:nvSpPr>
          <p:cNvPr id="8" name="Text 6"/>
          <p:cNvSpPr/>
          <p:nvPr/>
        </p:nvSpPr>
        <p:spPr>
          <a:xfrm>
            <a:off x="826769" y="4206280"/>
            <a:ext cx="1053815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Team Members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6769" y="4563963"/>
            <a:ext cx="10538157" cy="628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2520030381-Mohammed Faisal Imraan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2520030617 - Karingula Kaustav Sreenivas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6682" y="5543748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300" i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B.Tech Computer Science — Problem Statement Review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04428"/>
            <a:ext cx="10868745" cy="309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Abstract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590138" y="903089"/>
            <a:ext cx="5456200" cy="5450483"/>
          </a:xfrm>
          <a:prstGeom prst="roundRect">
            <a:avLst>
              <a:gd name="adj" fmla="val 273"/>
            </a:avLst>
          </a:prstGeom>
          <a:solidFill>
            <a:srgbClr val="66A8EE"/>
          </a:solidFill>
          <a:ln/>
        </p:spPr>
      </p:sp>
      <p:sp>
        <p:nvSpPr>
          <p:cNvPr id="4" name="Text 2"/>
          <p:cNvSpPr/>
          <p:nvPr/>
        </p:nvSpPr>
        <p:spPr>
          <a:xfrm>
            <a:off x="689156" y="962422"/>
            <a:ext cx="5258165" cy="154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Core Problem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89156" y="1176635"/>
            <a:ext cx="5258165" cy="3804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Large documents contain repeated words, phrases, and patterns that are computationally expensive to identify using naïve approaches. Brute-force substring comparison exhibits </a:t>
            </a:r>
            <a:pPr algn="l" indent="0" marL="0">
              <a:lnSpc>
                <a:spcPct val="107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O(n²) or worse complexity</a:t>
            </a:r>
            <a:pPr algn="l" indent="0" marL="0">
              <a:lnSpc>
                <a:spcPct val="107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making it impractical for large-scale text processing.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89156" y="1616373"/>
            <a:ext cx="5258165" cy="154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Proposed Solution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89156" y="1830586"/>
            <a:ext cx="5258165" cy="3804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proposed system leverages </a:t>
            </a:r>
            <a:pPr algn="l" indent="0" marL="0">
              <a:lnSpc>
                <a:spcPct val="107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suffix-based data structures</a:t>
            </a:r>
            <a:pPr algn="l" indent="0" marL="0">
              <a:lnSpc>
                <a:spcPct val="107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(Suffix Tree / Suffix Array) to efficiently organize and search text patterns — identifying meaningful repeated phrases, calculating frequencies, and detecting the longest repeated patterns.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223043" y="962422"/>
            <a:ext cx="5313527" cy="154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Key Deliverables</a:t>
            </a:r>
            <a:endParaRPr lang="en-US" sz="9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23043" y="1184077"/>
            <a:ext cx="5313527" cy="56445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385559" y="1295797"/>
            <a:ext cx="5039293" cy="154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Frequency Analysis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385559" y="1510010"/>
            <a:ext cx="503929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Count occurrences of each repeated pattern across the document corpus.</a:t>
            </a:r>
            <a:endParaRPr lang="en-US" sz="7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23043" y="1807865"/>
            <a:ext cx="5313527" cy="56445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385559" y="1919585"/>
            <a:ext cx="5039293" cy="154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Longest Pattern Detection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6385559" y="2133798"/>
            <a:ext cx="503929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Identify the longest meaningful repeated phrase in the document.</a:t>
            </a:r>
            <a:endParaRPr lang="en-US" sz="7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23043" y="2431653"/>
            <a:ext cx="5313527" cy="56445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85559" y="2543373"/>
            <a:ext cx="5039293" cy="154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Performance Benchmarking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6385559" y="2757587"/>
            <a:ext cx="503929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Measurable comparison of execution time against the naïve substring-search approach.</a:t>
            </a:r>
            <a:endParaRPr lang="en-US" sz="7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23043" y="3055441"/>
            <a:ext cx="5313527" cy="56445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385559" y="3167162"/>
            <a:ext cx="5039293" cy="154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Structured Reporting</a:t>
            </a:r>
            <a:endParaRPr lang="en-US" sz="950" dirty="0"/>
          </a:p>
        </p:txBody>
      </p:sp>
      <p:sp>
        <p:nvSpPr>
          <p:cNvPr id="20" name="Text 14"/>
          <p:cNvSpPr/>
          <p:nvPr/>
        </p:nvSpPr>
        <p:spPr>
          <a:xfrm>
            <a:off x="6385559" y="3381375"/>
            <a:ext cx="503929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Comprehensive output of detected patterns with frequencies and analysis.</a:t>
            </a:r>
            <a:endParaRPr lang="en-US" sz="750" dirty="0"/>
          </a:p>
        </p:txBody>
      </p:sp>
      <p:sp>
        <p:nvSpPr>
          <p:cNvPr id="21" name="Text 15"/>
          <p:cNvSpPr/>
          <p:nvPr/>
        </p:nvSpPr>
        <p:spPr>
          <a:xfrm>
            <a:off x="6223043" y="3686671"/>
            <a:ext cx="5313527" cy="154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Application Domains</a:t>
            </a:r>
            <a:endParaRPr lang="en-US" sz="95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23043" y="3908326"/>
            <a:ext cx="495486" cy="49559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777860" y="3908326"/>
            <a:ext cx="4758710" cy="154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Plagiarism Detection</a:t>
            </a:r>
            <a:endParaRPr lang="en-US" sz="95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23043" y="4502944"/>
            <a:ext cx="495486" cy="49559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777860" y="4502944"/>
            <a:ext cx="4758710" cy="154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Text Compression</a:t>
            </a:r>
            <a:endParaRPr lang="en-US" sz="95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23043" y="5097562"/>
            <a:ext cx="495486" cy="495598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6777860" y="5097562"/>
            <a:ext cx="4758710" cy="154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Document Analysis</a:t>
            </a:r>
            <a:endParaRPr lang="en-US" sz="95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23043" y="5692180"/>
            <a:ext cx="495486" cy="495598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6777860" y="5692180"/>
            <a:ext cx="4758710" cy="154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Pattern Mining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79711"/>
            <a:ext cx="10868745" cy="4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Problem Statement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61475" y="1917601"/>
            <a:ext cx="5262927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Challenge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97233" y="2319834"/>
            <a:ext cx="4827169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Computational Complexity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097233" y="2658864"/>
            <a:ext cx="4827169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Naïve substring comparison requires </a:t>
            </a:r>
            <a:pPr algn="l" indent="0" marL="0">
              <a:lnSpc>
                <a:spcPct val="123000"/>
              </a:lnSpc>
              <a:buNone/>
            </a:pPr>
            <a:r>
              <a:rPr lang="en-US" sz="110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O(n²) to O(n³)</a:t>
            </a:r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complexity for large text — excessive and impractical at scale.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97233" y="3362226"/>
            <a:ext cx="4827169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Meaningless Partial Matches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97233" y="3701256"/>
            <a:ext cx="4827169" cy="422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Character-level substring matching produces irrelevant partial-word results — e.g., </a:t>
            </a:r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"tificial"</a:t>
            </a:r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extracted from </a:t>
            </a:r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"artificial"</a:t>
            </a:r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polluting output with noise.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33" y="4410968"/>
            <a:ext cx="4827169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Scalability Gap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97233" y="4749998"/>
            <a:ext cx="4827169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Existing approaches cannot efficiently process large textual datasets, failing to scale with document size.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73643" y="1917601"/>
            <a:ext cx="5262927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Naïve vs. Proposed Approach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73643" y="2271514"/>
            <a:ext cx="5262927" cy="2228652"/>
          </a:xfrm>
          <a:prstGeom prst="roundRect">
            <a:avLst>
              <a:gd name="adj" fmla="val 946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73643" y="2645073"/>
            <a:ext cx="5262927" cy="878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273643" y="3015456"/>
            <a:ext cx="5262927" cy="878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273643" y="3385840"/>
            <a:ext cx="5262927" cy="878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273643" y="3756223"/>
            <a:ext cx="5262927" cy="878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273643" y="4126607"/>
            <a:ext cx="5262927" cy="878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280191" y="2277864"/>
            <a:ext cx="1575058" cy="367209"/>
          </a:xfrm>
          <a:custGeom>
            <a:avLst/>
            <a:gdLst/>
            <a:ahLst/>
            <a:cxnLst/>
            <a:rect l="l" t="t" r="r" b="b"/>
            <a:pathLst>
              <a:path w="1575058" h="367209">
                <a:moveTo>
                  <a:pt x="17573" y="0"/>
                </a:moveTo>
                <a:lnTo>
                  <a:pt x="1575058" y="0"/>
                </a:lnTo>
                <a:lnTo>
                  <a:pt x="1575058" y="367209"/>
                </a:lnTo>
                <a:lnTo>
                  <a:pt x="0" y="367209"/>
                </a:lnTo>
                <a:lnTo>
                  <a:pt x="0" y="17573"/>
                </a:lnTo>
                <a:arcTo hR="17573" wR="17573" stAng="10800000" swAng="5400000"/>
                <a:close/>
              </a:path>
            </a:pathLst>
          </a:custGeom>
          <a:solidFill>
            <a:srgbClr val="66A8EE"/>
          </a:solidFill>
          <a:ln/>
        </p:spPr>
      </p:sp>
      <p:sp>
        <p:nvSpPr>
          <p:cNvPr id="18" name="Text 16"/>
          <p:cNvSpPr/>
          <p:nvPr/>
        </p:nvSpPr>
        <p:spPr>
          <a:xfrm>
            <a:off x="6420682" y="2355850"/>
            <a:ext cx="1903663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Dimension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855250" y="2277864"/>
            <a:ext cx="1837485" cy="367209"/>
          </a:xfrm>
          <a:prstGeom prst="rect">
            <a:avLst/>
          </a:prstGeom>
          <a:solidFill>
            <a:srgbClr val="66A8EE"/>
          </a:solidFill>
          <a:ln/>
        </p:spPr>
      </p:sp>
      <p:sp>
        <p:nvSpPr>
          <p:cNvPr id="20" name="Text 18"/>
          <p:cNvSpPr/>
          <p:nvPr/>
        </p:nvSpPr>
        <p:spPr>
          <a:xfrm>
            <a:off x="7995740" y="2355850"/>
            <a:ext cx="2166090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Naïve Approach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692735" y="2277864"/>
            <a:ext cx="1837485" cy="367209"/>
          </a:xfrm>
          <a:custGeom>
            <a:avLst/>
            <a:gdLst/>
            <a:ahLst/>
            <a:cxnLst/>
            <a:rect l="l" t="t" r="r" b="b"/>
            <a:pathLst>
              <a:path w="1837485" h="367209">
                <a:moveTo>
                  <a:pt x="0" y="0"/>
                </a:moveTo>
                <a:lnTo>
                  <a:pt x="1819912" y="0"/>
                </a:lnTo>
                <a:arcTo hR="17573" wR="17573" stAng="16200000" swAng="5400000"/>
                <a:lnTo>
                  <a:pt x="1837485" y="367209"/>
                </a:lnTo>
                <a:lnTo>
                  <a:pt x="0" y="367209"/>
                </a:lnTo>
                <a:lnTo>
                  <a:pt x="0" y="0"/>
                </a:lnTo>
                <a:close/>
              </a:path>
            </a:pathLst>
          </a:custGeom>
          <a:solidFill>
            <a:srgbClr val="66A8EE"/>
          </a:solidFill>
          <a:ln/>
        </p:spPr>
      </p:sp>
      <p:sp>
        <p:nvSpPr>
          <p:cNvPr id="22" name="Text 20"/>
          <p:cNvSpPr/>
          <p:nvPr/>
        </p:nvSpPr>
        <p:spPr>
          <a:xfrm>
            <a:off x="9833225" y="2355850"/>
            <a:ext cx="2166090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Proposed Approach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20682" y="2726234"/>
            <a:ext cx="1903663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Complexity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995740" y="2726234"/>
            <a:ext cx="2166090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O(n²) – O(n³)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833225" y="2726234"/>
            <a:ext cx="2166090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O(n log n) or better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20682" y="3096617"/>
            <a:ext cx="1903663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Match Quality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995740" y="3096617"/>
            <a:ext cx="2166090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Partial-word noise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833225" y="3096617"/>
            <a:ext cx="2166090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Meaningful phrases only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20682" y="3467001"/>
            <a:ext cx="1903663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Scalability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995740" y="3467001"/>
            <a:ext cx="2166090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Fails on large docs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833225" y="3467001"/>
            <a:ext cx="2166090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Designed for large scale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20682" y="3837384"/>
            <a:ext cx="1903663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Frequency Analysis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995740" y="3837384"/>
            <a:ext cx="2166090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Costly re-traversal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833225" y="3837384"/>
            <a:ext cx="2166090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Built into structure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20682" y="4207768"/>
            <a:ext cx="1903663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Performance Insight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995740" y="4207768"/>
            <a:ext cx="2166090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benchmarking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833225" y="4207768"/>
            <a:ext cx="2166090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Measurable comparison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73643" y="4634508"/>
            <a:ext cx="5262927" cy="909340"/>
          </a:xfrm>
          <a:prstGeom prst="roundRect">
            <a:avLst>
              <a:gd name="adj" fmla="val 2319"/>
            </a:avLst>
          </a:prstGeom>
          <a:solidFill>
            <a:srgbClr val="0D3E73"/>
          </a:solidFill>
          <a:ln/>
        </p:spPr>
      </p:sp>
      <p:pic>
        <p:nvPicPr>
          <p:cNvPr id="3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4133" y="4818559"/>
            <a:ext cx="175712" cy="140494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6730336" y="4777085"/>
            <a:ext cx="4665744" cy="6241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core innovation is shifting from character-level brute-force to </a:t>
            </a:r>
            <a:pPr algn="l" indent="0" marL="0">
              <a:lnSpc>
                <a:spcPct val="12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word/phrase-level suffix structure traversal</a:t>
            </a:r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eliminating meaningless matches while dramatically reducing computational cost.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04825"/>
            <a:ext cx="10868745" cy="406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Proposed System Workflow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661475" y="1116905"/>
            <a:ext cx="11478330" cy="18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 8-step pipeline from raw document input to performance-benchmarked output, built on suffix-based data structures.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418530"/>
            <a:ext cx="5434373" cy="52089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1647" y="2041922"/>
            <a:ext cx="5174029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1. Input &amp; Preprocessing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791647" y="2306935"/>
            <a:ext cx="5174029" cy="18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Load and clean large text documents</a:t>
            </a:r>
            <a:endParaRPr lang="en-US" sz="10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48" y="1418530"/>
            <a:ext cx="5434373" cy="52089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26019" y="2041922"/>
            <a:ext cx="5174029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2. Tokenization &amp; Filtering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6226019" y="2306935"/>
            <a:ext cx="5174029" cy="18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Extract meaningful words and phrases; filter partial matches</a:t>
            </a:r>
            <a:endParaRPr lang="en-US" sz="10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623344"/>
            <a:ext cx="5434373" cy="52089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91647" y="3246735"/>
            <a:ext cx="5174029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3. Build Suffix Structure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791647" y="3511748"/>
            <a:ext cx="5174029" cy="18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Construct Suffix Tree or Suffix Array from processed text</a:t>
            </a:r>
            <a:endParaRPr lang="en-US" sz="10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8" y="2623344"/>
            <a:ext cx="5434373" cy="52089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226019" y="3246735"/>
            <a:ext cx="5174029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4. Pattern Detection</a:t>
            </a:r>
            <a:endParaRPr lang="en-US" sz="1250" dirty="0"/>
          </a:p>
        </p:txBody>
      </p:sp>
      <p:sp>
        <p:nvSpPr>
          <p:cNvPr id="15" name="Text 9"/>
          <p:cNvSpPr/>
          <p:nvPr/>
        </p:nvSpPr>
        <p:spPr>
          <a:xfrm>
            <a:off x="6226019" y="3511748"/>
            <a:ext cx="5174029" cy="18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Traverse suffix structure to identify all repeated words and phrases</a:t>
            </a:r>
            <a:endParaRPr lang="en-US" sz="10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3943548"/>
            <a:ext cx="5434373" cy="52089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91647" y="4566940"/>
            <a:ext cx="5174029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5. Frequency Calculation</a:t>
            </a:r>
            <a:endParaRPr lang="en-US" sz="1250" dirty="0"/>
          </a:p>
        </p:txBody>
      </p:sp>
      <p:sp>
        <p:nvSpPr>
          <p:cNvPr id="18" name="Text 11"/>
          <p:cNvSpPr/>
          <p:nvPr/>
        </p:nvSpPr>
        <p:spPr>
          <a:xfrm>
            <a:off x="791647" y="4831953"/>
            <a:ext cx="5174029" cy="18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Count occurrences of each repeated pattern</a:t>
            </a:r>
            <a:endParaRPr lang="en-US" sz="10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848" y="3943548"/>
            <a:ext cx="5434373" cy="52089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226019" y="4566940"/>
            <a:ext cx="5174029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6. Longest Pattern ID</a:t>
            </a:r>
            <a:endParaRPr lang="en-US" sz="1250" dirty="0"/>
          </a:p>
        </p:txBody>
      </p:sp>
      <p:sp>
        <p:nvSpPr>
          <p:cNvPr id="21" name="Text 13"/>
          <p:cNvSpPr/>
          <p:nvPr/>
        </p:nvSpPr>
        <p:spPr>
          <a:xfrm>
            <a:off x="6226019" y="4831953"/>
            <a:ext cx="5174029" cy="18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Determine the longest meaningful repeated phrase</a:t>
            </a:r>
            <a:endParaRPr lang="en-US" sz="100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475" y="5148362"/>
            <a:ext cx="5434373" cy="520898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791647" y="5771753"/>
            <a:ext cx="5174029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7. Report Generation</a:t>
            </a:r>
            <a:endParaRPr lang="en-US" sz="1250" dirty="0"/>
          </a:p>
        </p:txBody>
      </p:sp>
      <p:sp>
        <p:nvSpPr>
          <p:cNvPr id="24" name="Text 15"/>
          <p:cNvSpPr/>
          <p:nvPr/>
        </p:nvSpPr>
        <p:spPr>
          <a:xfrm>
            <a:off x="791647" y="6036766"/>
            <a:ext cx="5174029" cy="18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 structured output of detected patterns with frequencies</a:t>
            </a:r>
            <a:endParaRPr lang="en-US" sz="100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5848" y="5148362"/>
            <a:ext cx="5434373" cy="520898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6226019" y="5771753"/>
            <a:ext cx="5174029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8. Performance Comparison</a:t>
            </a:r>
            <a:endParaRPr lang="en-US" sz="1250" dirty="0"/>
          </a:p>
        </p:txBody>
      </p:sp>
      <p:sp>
        <p:nvSpPr>
          <p:cNvPr id="27" name="Text 17"/>
          <p:cNvSpPr/>
          <p:nvPr/>
        </p:nvSpPr>
        <p:spPr>
          <a:xfrm>
            <a:off x="6226019" y="6036766"/>
            <a:ext cx="5174029" cy="18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Measure execution time vs. naïve substring-search approach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84684"/>
            <a:ext cx="10868745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Tools and Technologies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61475" y="1104801"/>
            <a:ext cx="5283068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Programming Language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403152"/>
            <a:ext cx="5283068" cy="124847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09944" y="1508820"/>
            <a:ext cx="186031" cy="18603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98195" y="1880890"/>
            <a:ext cx="5009628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Java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798195" y="2167632"/>
            <a:ext cx="5009628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Primary implementation language for data structure construction and algorithm development. Chosen for robust standard library support and strong typing.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661475" y="2756198"/>
            <a:ext cx="5283068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Core Concepts &amp; Data Structures</a:t>
            </a:r>
            <a:endParaRPr lang="en-US" sz="12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054548"/>
            <a:ext cx="5283068" cy="73382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48994" y="3191272"/>
            <a:ext cx="4958829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Suffix Tree / Suffix Array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848994" y="3478014"/>
            <a:ext cx="4958829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Efficient organization and traversal of all text suffixes for pattern detection</a:t>
            </a:r>
            <a:endParaRPr lang="en-US" sz="9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3881338"/>
            <a:ext cx="5283068" cy="73382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48994" y="4018062"/>
            <a:ext cx="4958829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String Processing &amp; Tokenization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848994" y="4304804"/>
            <a:ext cx="4958829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Segmentation of raw text into meaningful word and phrase units</a:t>
            </a:r>
            <a:endParaRPr lang="en-US" sz="9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4708128"/>
            <a:ext cx="5283068" cy="73382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48994" y="4844852"/>
            <a:ext cx="4958829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Searching &amp; Sorting Algorithms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848994" y="5131594"/>
            <a:ext cx="4958829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Efficient traversal and ordering of suffix structures</a:t>
            </a:r>
            <a:endParaRPr lang="en-US" sz="9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1475" y="5534918"/>
            <a:ext cx="5283068" cy="73382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48994" y="5671641"/>
            <a:ext cx="4958829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Frequency Counting &amp; Hash Lookups</a:t>
            </a:r>
            <a:endParaRPr lang="en-US" sz="1200" dirty="0"/>
          </a:p>
        </p:txBody>
      </p:sp>
      <p:sp>
        <p:nvSpPr>
          <p:cNvPr id="20" name="Text 12"/>
          <p:cNvSpPr/>
          <p:nvPr/>
        </p:nvSpPr>
        <p:spPr>
          <a:xfrm>
            <a:off x="848994" y="5958384"/>
            <a:ext cx="4958829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Fast pattern occurrence counting using hash-based data structures</a:t>
            </a:r>
            <a:endParaRPr lang="en-US" sz="950" dirty="0"/>
          </a:p>
        </p:txBody>
      </p:sp>
      <p:sp>
        <p:nvSpPr>
          <p:cNvPr id="21" name="Text 13"/>
          <p:cNvSpPr/>
          <p:nvPr/>
        </p:nvSpPr>
        <p:spPr>
          <a:xfrm>
            <a:off x="6253502" y="1104801"/>
            <a:ext cx="5283068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Java Standard Library Components</a:t>
            </a:r>
            <a:endParaRPr lang="en-US" sz="1200" dirty="0"/>
          </a:p>
        </p:txBody>
      </p:sp>
      <p:sp>
        <p:nvSpPr>
          <p:cNvPr id="22" name="Shape 14"/>
          <p:cNvSpPr/>
          <p:nvPr/>
        </p:nvSpPr>
        <p:spPr>
          <a:xfrm>
            <a:off x="6253502" y="1403152"/>
            <a:ext cx="5283068" cy="2054622"/>
          </a:xfrm>
          <a:prstGeom prst="roundRect">
            <a:avLst>
              <a:gd name="adj" fmla="val 906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23" name="Shape 15"/>
          <p:cNvSpPr/>
          <p:nvPr/>
        </p:nvSpPr>
        <p:spPr>
          <a:xfrm>
            <a:off x="6253502" y="1710531"/>
            <a:ext cx="5283068" cy="775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4" name="Shape 16"/>
          <p:cNvSpPr/>
          <p:nvPr/>
        </p:nvSpPr>
        <p:spPr>
          <a:xfrm>
            <a:off x="6253502" y="2188369"/>
            <a:ext cx="5283068" cy="775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5" name="Shape 17"/>
          <p:cNvSpPr/>
          <p:nvPr/>
        </p:nvSpPr>
        <p:spPr>
          <a:xfrm>
            <a:off x="6253502" y="2666206"/>
            <a:ext cx="5283068" cy="775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6" name="Shape 18"/>
          <p:cNvSpPr/>
          <p:nvPr/>
        </p:nvSpPr>
        <p:spPr>
          <a:xfrm>
            <a:off x="6253502" y="2976761"/>
            <a:ext cx="5283068" cy="775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7" name="Shape 19"/>
          <p:cNvSpPr/>
          <p:nvPr/>
        </p:nvSpPr>
        <p:spPr>
          <a:xfrm>
            <a:off x="6259852" y="1409502"/>
            <a:ext cx="1844629" cy="301030"/>
          </a:xfrm>
          <a:custGeom>
            <a:avLst/>
            <a:gdLst/>
            <a:ahLst/>
            <a:cxnLst/>
            <a:rect l="l" t="t" r="r" b="b"/>
            <a:pathLst>
              <a:path w="1844629" h="301030">
                <a:moveTo>
                  <a:pt x="15505" y="0"/>
                </a:moveTo>
                <a:lnTo>
                  <a:pt x="1844629" y="0"/>
                </a:lnTo>
                <a:lnTo>
                  <a:pt x="1844629" y="301030"/>
                </a:lnTo>
                <a:lnTo>
                  <a:pt x="0" y="301030"/>
                </a:lnTo>
                <a:lnTo>
                  <a:pt x="0" y="15506"/>
                </a:lnTo>
                <a:arcTo hR="15506" wR="15505" stAng="10800000" swAng="5400000"/>
                <a:close/>
              </a:path>
            </a:pathLst>
          </a:custGeom>
          <a:solidFill>
            <a:srgbClr val="66A8EE"/>
          </a:solidFill>
          <a:ln/>
        </p:spPr>
      </p:sp>
      <p:sp>
        <p:nvSpPr>
          <p:cNvPr id="28" name="Text 20"/>
          <p:cNvSpPr/>
          <p:nvPr/>
        </p:nvSpPr>
        <p:spPr>
          <a:xfrm>
            <a:off x="6383872" y="1471613"/>
            <a:ext cx="2206173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Component</a:t>
            </a:r>
            <a:endParaRPr lang="en-US" sz="950" dirty="0"/>
          </a:p>
        </p:txBody>
      </p:sp>
      <p:sp>
        <p:nvSpPr>
          <p:cNvPr id="29" name="Shape 21"/>
          <p:cNvSpPr/>
          <p:nvPr/>
        </p:nvSpPr>
        <p:spPr>
          <a:xfrm>
            <a:off x="8104481" y="1409502"/>
            <a:ext cx="3425739" cy="301030"/>
          </a:xfrm>
          <a:custGeom>
            <a:avLst/>
            <a:gdLst/>
            <a:ahLst/>
            <a:cxnLst/>
            <a:rect l="l" t="t" r="r" b="b"/>
            <a:pathLst>
              <a:path w="3425739" h="301030">
                <a:moveTo>
                  <a:pt x="0" y="0"/>
                </a:moveTo>
                <a:lnTo>
                  <a:pt x="3410234" y="0"/>
                </a:lnTo>
                <a:arcTo hR="15506" wR="15505" stAng="16200000" swAng="5400000"/>
                <a:lnTo>
                  <a:pt x="3425739" y="301030"/>
                </a:lnTo>
                <a:lnTo>
                  <a:pt x="0" y="301030"/>
                </a:lnTo>
                <a:lnTo>
                  <a:pt x="0" y="0"/>
                </a:lnTo>
                <a:close/>
              </a:path>
            </a:pathLst>
          </a:custGeom>
          <a:solidFill>
            <a:srgbClr val="66A8EE"/>
          </a:solidFill>
          <a:ln/>
        </p:spPr>
      </p:sp>
      <p:sp>
        <p:nvSpPr>
          <p:cNvPr id="30" name="Text 22"/>
          <p:cNvSpPr/>
          <p:nvPr/>
        </p:nvSpPr>
        <p:spPr>
          <a:xfrm>
            <a:off x="8228501" y="1471613"/>
            <a:ext cx="3787283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Role in System</a:t>
            </a:r>
            <a:endParaRPr lang="en-US" sz="950" dirty="0"/>
          </a:p>
        </p:txBody>
      </p:sp>
      <p:sp>
        <p:nvSpPr>
          <p:cNvPr id="31" name="Text 23"/>
          <p:cNvSpPr/>
          <p:nvPr/>
        </p:nvSpPr>
        <p:spPr>
          <a:xfrm>
            <a:off x="6383872" y="1775817"/>
            <a:ext cx="2206173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String / StringBuilder</a:t>
            </a:r>
            <a:endParaRPr lang="en-US" sz="950" dirty="0"/>
          </a:p>
        </p:txBody>
      </p:sp>
      <p:sp>
        <p:nvSpPr>
          <p:cNvPr id="32" name="Text 24"/>
          <p:cNvSpPr/>
          <p:nvPr/>
        </p:nvSpPr>
        <p:spPr>
          <a:xfrm>
            <a:off x="8228501" y="1775817"/>
            <a:ext cx="3177699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Text manipulation and in-memory processing of document content</a:t>
            </a:r>
            <a:endParaRPr lang="en-US" sz="950" dirty="0"/>
          </a:p>
        </p:txBody>
      </p:sp>
      <p:sp>
        <p:nvSpPr>
          <p:cNvPr id="33" name="Text 25"/>
          <p:cNvSpPr/>
          <p:nvPr/>
        </p:nvSpPr>
        <p:spPr>
          <a:xfrm>
            <a:off x="6383872" y="2253655"/>
            <a:ext cx="2206173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HashMap / HashSet</a:t>
            </a:r>
            <a:endParaRPr lang="en-US" sz="950" dirty="0"/>
          </a:p>
        </p:txBody>
      </p:sp>
      <p:sp>
        <p:nvSpPr>
          <p:cNvPr id="34" name="Text 26"/>
          <p:cNvSpPr/>
          <p:nvPr/>
        </p:nvSpPr>
        <p:spPr>
          <a:xfrm>
            <a:off x="8228501" y="2253655"/>
            <a:ext cx="3177699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Frequency counting and duplicate pattern detection with O(1) average lookup</a:t>
            </a:r>
            <a:endParaRPr lang="en-US" sz="950" dirty="0"/>
          </a:p>
        </p:txBody>
      </p:sp>
      <p:sp>
        <p:nvSpPr>
          <p:cNvPr id="35" name="Text 27"/>
          <p:cNvSpPr/>
          <p:nvPr/>
        </p:nvSpPr>
        <p:spPr>
          <a:xfrm>
            <a:off x="6383872" y="2731492"/>
            <a:ext cx="2206173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ArrayList</a:t>
            </a:r>
            <a:endParaRPr lang="en-US" sz="950" dirty="0"/>
          </a:p>
        </p:txBody>
      </p:sp>
      <p:sp>
        <p:nvSpPr>
          <p:cNvPr id="36" name="Text 28"/>
          <p:cNvSpPr/>
          <p:nvPr/>
        </p:nvSpPr>
        <p:spPr>
          <a:xfrm>
            <a:off x="8228501" y="2731492"/>
            <a:ext cx="3787283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Dynamic storage of detected patterns and result sets</a:t>
            </a:r>
            <a:endParaRPr lang="en-US" sz="950" dirty="0"/>
          </a:p>
        </p:txBody>
      </p:sp>
      <p:sp>
        <p:nvSpPr>
          <p:cNvPr id="37" name="Text 29"/>
          <p:cNvSpPr/>
          <p:nvPr/>
        </p:nvSpPr>
        <p:spPr>
          <a:xfrm>
            <a:off x="6383872" y="3042047"/>
            <a:ext cx="2206173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File / BufferedReader</a:t>
            </a:r>
            <a:endParaRPr lang="en-US" sz="950" dirty="0"/>
          </a:p>
        </p:txBody>
      </p:sp>
      <p:sp>
        <p:nvSpPr>
          <p:cNvPr id="38" name="Text 30"/>
          <p:cNvSpPr/>
          <p:nvPr/>
        </p:nvSpPr>
        <p:spPr>
          <a:xfrm>
            <a:off x="8228501" y="3042047"/>
            <a:ext cx="3177699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Efficient input handling and streaming of large text documents</a:t>
            </a:r>
            <a:endParaRPr lang="en-US" sz="950" dirty="0"/>
          </a:p>
        </p:txBody>
      </p:sp>
      <p:sp>
        <p:nvSpPr>
          <p:cNvPr id="39" name="Text 31"/>
          <p:cNvSpPr/>
          <p:nvPr/>
        </p:nvSpPr>
        <p:spPr>
          <a:xfrm>
            <a:off x="6253502" y="3562350"/>
            <a:ext cx="5283068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Input Format</a:t>
            </a:r>
            <a:endParaRPr lang="en-US" sz="1200" dirty="0"/>
          </a:p>
        </p:txBody>
      </p:sp>
      <p:sp>
        <p:nvSpPr>
          <p:cNvPr id="40" name="Shape 32"/>
          <p:cNvSpPr/>
          <p:nvPr/>
        </p:nvSpPr>
        <p:spPr>
          <a:xfrm>
            <a:off x="6253502" y="3860701"/>
            <a:ext cx="2595001" cy="882055"/>
          </a:xfrm>
          <a:prstGeom prst="roundRect">
            <a:avLst>
              <a:gd name="adj" fmla="val 2109"/>
            </a:avLst>
          </a:prstGeom>
          <a:solidFill>
            <a:srgbClr val="3F4652"/>
          </a:solidFill>
          <a:ln/>
        </p:spPr>
      </p:sp>
      <p:sp>
        <p:nvSpPr>
          <p:cNvPr id="41" name="Text 33"/>
          <p:cNvSpPr/>
          <p:nvPr/>
        </p:nvSpPr>
        <p:spPr>
          <a:xfrm>
            <a:off x="6377522" y="3984724"/>
            <a:ext cx="2346961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TXT Files</a:t>
            </a:r>
            <a:endParaRPr lang="en-US" sz="1200" dirty="0"/>
          </a:p>
        </p:txBody>
      </p:sp>
      <p:sp>
        <p:nvSpPr>
          <p:cNvPr id="42" name="Text 34"/>
          <p:cNvSpPr/>
          <p:nvPr/>
        </p:nvSpPr>
        <p:spPr>
          <a:xfrm>
            <a:off x="6377522" y="4271466"/>
            <a:ext cx="2346961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Plain text documents of arbitrary size</a:t>
            </a:r>
            <a:endParaRPr lang="en-US" sz="950" dirty="0"/>
          </a:p>
        </p:txBody>
      </p:sp>
      <p:sp>
        <p:nvSpPr>
          <p:cNvPr id="43" name="Shape 35"/>
          <p:cNvSpPr/>
          <p:nvPr/>
        </p:nvSpPr>
        <p:spPr>
          <a:xfrm>
            <a:off x="8941469" y="3860701"/>
            <a:ext cx="2595101" cy="882055"/>
          </a:xfrm>
          <a:prstGeom prst="roundRect">
            <a:avLst>
              <a:gd name="adj" fmla="val 2109"/>
            </a:avLst>
          </a:prstGeom>
          <a:solidFill>
            <a:srgbClr val="3F4652"/>
          </a:solidFill>
          <a:ln/>
        </p:spPr>
      </p:sp>
      <p:sp>
        <p:nvSpPr>
          <p:cNvPr id="44" name="Text 36"/>
          <p:cNvSpPr/>
          <p:nvPr/>
        </p:nvSpPr>
        <p:spPr>
          <a:xfrm>
            <a:off x="9065490" y="3984724"/>
            <a:ext cx="2347060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Large Textual Datasets</a:t>
            </a:r>
            <a:endParaRPr lang="en-US" sz="1200" dirty="0"/>
          </a:p>
        </p:txBody>
      </p:sp>
      <p:sp>
        <p:nvSpPr>
          <p:cNvPr id="45" name="Text 37"/>
          <p:cNvSpPr/>
          <p:nvPr/>
        </p:nvSpPr>
        <p:spPr>
          <a:xfrm>
            <a:off x="9065490" y="4271466"/>
            <a:ext cx="2347060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Corpora where naïve O(n²) approaches become impractical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25587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Expected Outcomes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1403548"/>
            <a:ext cx="527304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System Capabilities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4888" y="1774726"/>
            <a:ext cx="4869634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Scalable Processing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64888" y="2087166"/>
            <a:ext cx="486963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Efficiently process large text documents with measurable performance improvement over naïve approaches.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64888" y="2725241"/>
            <a:ext cx="4869634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Meaningful Pattern Detection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64888" y="3037681"/>
            <a:ext cx="486963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Detect repeated words and phrases while filtering insignificant partial-word matches.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64888" y="3675757"/>
            <a:ext cx="4869634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Longest Pattern Identification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64888" y="3988197"/>
            <a:ext cx="486963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Identify the longest meaningful repeated phrase present in the document.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64888" y="4435773"/>
            <a:ext cx="4869634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Frequency Reporting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64888" y="4748213"/>
            <a:ext cx="486963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Calculate and report the occurrence count of every detected repeated pattern.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64888" y="5195788"/>
            <a:ext cx="4869634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Structured Output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64888" y="5508228"/>
            <a:ext cx="486963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Generate clear, structured reports of all detected patterns for downstream use.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68275" y="1297781"/>
            <a:ext cx="5463542" cy="4834533"/>
          </a:xfrm>
          <a:prstGeom prst="roundRect">
            <a:avLst>
              <a:gd name="adj" fmla="val 411"/>
            </a:avLst>
          </a:prstGeom>
          <a:solidFill>
            <a:srgbClr val="66A8EE"/>
          </a:solidFill>
          <a:ln/>
        </p:spPr>
      </p:sp>
      <p:sp>
        <p:nvSpPr>
          <p:cNvPr id="15" name="Text 13"/>
          <p:cNvSpPr/>
          <p:nvPr/>
        </p:nvSpPr>
        <p:spPr>
          <a:xfrm>
            <a:off x="6300531" y="1403548"/>
            <a:ext cx="5199032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Illustrative Example Output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0531" y="1715988"/>
            <a:ext cx="580861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Input Document: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00531" y="2025551"/>
            <a:ext cx="5199032" cy="899716"/>
          </a:xfrm>
          <a:prstGeom prst="roundRect">
            <a:avLst>
              <a:gd name="adj" fmla="val 2206"/>
            </a:avLst>
          </a:prstGeom>
          <a:solidFill>
            <a:srgbClr val="599BE1"/>
          </a:solidFill>
          <a:ln/>
        </p:spPr>
      </p:sp>
      <p:sp>
        <p:nvSpPr>
          <p:cNvPr id="18" name="Text 16"/>
          <p:cNvSpPr/>
          <p:nvPr/>
        </p:nvSpPr>
        <p:spPr>
          <a:xfrm>
            <a:off x="6459277" y="2157809"/>
            <a:ext cx="4881540" cy="6351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"The cat sat on the mat.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cat likes milk.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cat sleeps."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00531" y="3044329"/>
            <a:ext cx="5199032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Detected Repeated Patterns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00531" y="3370064"/>
            <a:ext cx="5199032" cy="1028700"/>
          </a:xfrm>
          <a:prstGeom prst="roundRect">
            <a:avLst>
              <a:gd name="adj" fmla="val 1929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0531" y="3709789"/>
            <a:ext cx="5199032" cy="827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300531" y="4052689"/>
            <a:ext cx="5199032" cy="827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439235" y="3446264"/>
            <a:ext cx="345679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Pattern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550955" y="3446264"/>
            <a:ext cx="241958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Frequency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39235" y="3782814"/>
            <a:ext cx="3456794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highlight>
                  <a:srgbClr val="599BE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"The cat"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550955" y="3782814"/>
            <a:ext cx="241958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 times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39235" y="4125714"/>
            <a:ext cx="3456794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highlight>
                  <a:srgbClr val="599BE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"cat"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550955" y="4125714"/>
            <a:ext cx="241958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 times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00531" y="4517827"/>
            <a:ext cx="5199032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Longest Meaningful Repeated Phrase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98963" y="4938812"/>
            <a:ext cx="561018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"The cat"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2-word phrase, repeated 3 times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300531" y="4843562"/>
            <a:ext cx="19050" cy="381000"/>
          </a:xfrm>
          <a:prstGeom prst="roundRect">
            <a:avLst>
              <a:gd name="adj" fmla="val 49999"/>
            </a:avLst>
          </a:prstGeom>
          <a:solidFill>
            <a:srgbClr val="66A8EE"/>
          </a:solidFill>
          <a:ln/>
        </p:spPr>
      </p:sp>
      <p:sp>
        <p:nvSpPr>
          <p:cNvPr id="32" name="Text 30"/>
          <p:cNvSpPr/>
          <p:nvPr/>
        </p:nvSpPr>
        <p:spPr>
          <a:xfrm>
            <a:off x="6300531" y="5343624"/>
            <a:ext cx="5199032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Impact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00531" y="5656064"/>
            <a:ext cx="51990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Efficient repeated-pattern detection for large-scale textual data, enabling practical applications in plagiarism detection, text compression, and document analysis.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2026-08-20T04:42:26Z</dcterms:created>
  <dcterms:modified xsi:type="dcterms:W3CDTF">2026-08-20T04:42:26Z</dcterms:modified>
</cp:coreProperties>
</file>